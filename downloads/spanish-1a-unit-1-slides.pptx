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unit: by the end, students will hold a full first conversation in Spanish -- name, origin, age,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four-part arc of the unit so students see where each day's lesson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each example word aloud. Have students echo each one twice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16-19 and 21-29 are the trickiest -- spend extra repetition time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pairs perform this exact dialogue once, then swap in their own names and hometowns.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Drill each form chorally, then cold-call a few students with a subject and have them supply the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that exceptions (like el día) exist but are rare -- the pattern works most of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every student answer both questions about themselves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plug straight into sentences they already know: 'Me gusta el fútbol.'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video, have students share one similarity and one difference with a partner.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quick cold-call round: each student says one full sentence using something from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1A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Unit 1: ¡Bienvenidos! y ¡Mucho Gusto!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Alphabet, colors, numbers, and your first real conversation in Spanish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607040" y="5120640"/>
            <a:ext cx="1463040" cy="1463040"/>
          </a:xfrm>
          <a:prstGeom prst="ellipse">
            <a:avLst/>
          </a:prstGeom>
          <a:solidFill>
            <a:srgbClr val="F9E795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6035040"/>
            <a:ext cx="822960" cy="822960"/>
          </a:xfrm>
          <a:prstGeom prst="ellipse">
            <a:avLst/>
          </a:prstGeom>
          <a:solidFill>
            <a:srgbClr val="F9E795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We're Headed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&amp; Building Blocks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Alphabet, colors, and numbers 1-30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97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People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Introductions, mucho gusto, de dónde eres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118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&amp; Gender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136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 ser and masculine/feminine nouns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5262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About You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8280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date, sports, music, classes, food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1737360"/>
            <a:ext cx="4937760" cy="3291840"/>
          </a:xfrm>
          <a:prstGeom prst="roundRect">
            <a:avLst>
              <a:gd name="adj" fmla="val 4167"/>
            </a:avLst>
          </a:prstGeom>
          <a:solidFill>
            <a:srgbClr val="FFF3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1737360"/>
            <a:ext cx="4937760" cy="329184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 weeks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Capítulo Preliminar + Chapter 1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Spanish Alphabet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Sounds 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"h"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"y"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"ny" in canyon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373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9E79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8745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hola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"OH-la" (h is silent)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869680" y="17373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9E79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69680" y="18745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jugo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"HOO-go"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347472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9E79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3611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llamo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"YAH-mo"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69680" y="347472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9E79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69680" y="36118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año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86968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"AH-nyo"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Colors and Numbers 1-30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negro / blanco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/ white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737360"/>
            <a:ext cx="4937760" cy="4023360"/>
          </a:xfrm>
          <a:prstGeom prst="roundRect">
            <a:avLst>
              <a:gd name="adj" fmla="val 3409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920240"/>
            <a:ext cx="457200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pattern: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16-19 squeeze into one word
</a:t>
            </a:r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dieciséis, diecisiete...
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21-29 do the same
</a:t>
            </a:r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veintiuno, veintidós...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Meeting Someone New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4023360"/>
          </a:xfrm>
          <a:prstGeom prst="roundRect">
            <a:avLst>
              <a:gd name="adj" fmla="val 3409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Me llamo Ana. ¿Cómo te llamas?
</a:t>
            </a:r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llamo Luis. Mucho gusto.
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Igualmente. ¿De dónde eres?
</a:t>
            </a:r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Luis: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de Minnesota. ¿Y tú?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17830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llamo... / ¿Cómo te llamas?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0848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name is... / What's your name?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6974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gusto / Igualmente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9992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 / Likewise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9224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36118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eres? / Soy de...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9136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 / I am from...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Verb Ser (to be)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 soy Ana.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 eres de Texas.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 / ella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Ella es mi amiga.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nosotros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Somos estudiantes.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ellos / ellas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de España.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37360"/>
            <a:ext cx="4754880" cy="4023360"/>
          </a:xfrm>
          <a:prstGeom prst="roundRect">
            <a:avLst>
              <a:gd name="adj" fmla="val 3409"/>
            </a:avLst>
          </a:prstGeom>
          <a:solidFill>
            <a:srgbClr val="F9E79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0" y="192024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 shows up in almost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sentence you'll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speak this year --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 these five forms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Noun Gender: A New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4754880" cy="3474720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libro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ending in -o are usually masculine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4754880" cy="3474720"/>
          </a:xfrm>
          <a:prstGeom prst="roundRect">
            <a:avLst>
              <a:gd name="adj" fmla="val 2632"/>
            </a:avLst>
          </a:prstGeom>
          <a:solidFill>
            <a:srgbClr val="F7F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057400"/>
            <a:ext cx="4754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mesa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ending in -a are usually feminine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 and Date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424160" cy="914400"/>
        </p:xfrm>
        <a:graphic>
          <a:graphicData uri="http://schemas.openxmlformats.org/drawingml/2006/table">
            <a:tbl>
              <a:tblPr/>
              <a:tblGrid>
                <a:gridCol w="521208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¿Cuántos años tienes?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Tengo [number] años.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¿Cuál es la fecha?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Hoy es el [number] de [month].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Talking About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fútbol, el básquetbol, el béisbol, el tenis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889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906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música rock, pop, clásica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7830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0848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matemáticas, ciencias, inglés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834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7889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0906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pizza, la fruta, el pan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Connection: Spain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023360"/>
          </a:xfrm>
          <a:prstGeom prst="roundRect">
            <a:avLst>
              <a:gd name="adj" fmla="val 3409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video takes us to Spain -- where Spanish began.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greetings, gestures, and daily routines that feel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familiar, and ones that feel different from home.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8308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8483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is silent, j sounds like h, ll sounds like 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60604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0779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soy, eres, es, somos, son -- five forms, everywhere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42900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73075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 usually masculine, -a usually feminine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25196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now...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553712"/>
            <a:ext cx="992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yourself, say your age, and give the date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2026-09-03T17:54:52Z</dcterms:created>
  <dcterms:modified xsi:type="dcterms:W3CDTF">2026-09-03T17:54:52Z</dcterms:modified>
</cp:coreProperties>
</file>